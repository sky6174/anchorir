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KoPubDotum_Pro"/>
              </a:defRPr>
            </a:pPr>
            <a:r>
              <a:t>UC ANCHOR 성과관리 대시보드 사용자 설명서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4E6E81"/>
                </a:solidFill>
                <a:latin typeface="KoPubDotum_Pro"/>
              </a:defRPr>
            </a:pPr>
            <a:r>
              <a:t>Single Source of Truth 기반의 실시간 대학 성과 &amp; 예산 통제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KoPubDotum_Pro"/>
              </a:defRPr>
            </a:pPr>
            <a:r>
              <a:t>울산과학대학교 앵커사업단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02. 통합 행정 플랫폼 구축 목적 및 기대 효과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행정 효율 극대화: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추진 실적(PDCA), 예산 집행, 조달 관리를 단일 시스템으로 일원화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데이터 누수 차단: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흩어져 있던 통계 자료와 서류 파일을 중앙 DB(Supabase)에 통합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실시간 의사결정: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수작업 취합 과정을 없애고 연차별 성과지표를 즉각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03. 통합 대시보드 시스템의 핵심 연계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종합 연계 구조: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실적 입력(연구원) ➡️ 예산 통제 ➡️ 조달 결재 ➡️ 위원회 연동의 순환 관계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스토리지 연동: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서류(PDF) 및 녹음 증빙(MP3)을 클라우드 스토리지로 중앙 보존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지능형 AI 연동: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PDF 주요 조달 정보 요약 및 RAG 지식 챗봇을 통한 운영 지침 상시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04. 안정적인 시스템 보안 및 사용자 인증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로그인 보안 검증: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Supabase Auth 기반 사용자 계정 보안 및 세션 토큰(JWT) 관리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비로그인 차단: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비인증 사용자(anon)의 데이터 테이블 접근 권한 완전 회수(RLS 적용)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데이터 정합성 유지: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통신 세션 만료 및 암호화 전송으로 불법적인 임의 변조 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05. 사용자 등급별 접근 권한 및 기능 승인 분기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동적 권한 제어: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로그인한 사용자의 UUID와 연동된 역할(role_key)에 따라 실시간 메뉴 탭 활성화 분기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권한 그룹 이원화: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관리자 승인 권한 그룹(A)과 일반 연구원/실무 권한 그룹(B)으로 명확히 구분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조정의 유연성: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포털 설정을 통한 탭 노출 상태 토글 스위치 및 접근 권한의 기민한 커스터마이징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06. 최고 관리 권한 그룹 기능 및 승인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대상 역할군: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최고관리자(ADMIN), 사업단장(G_DIRECTOR), 총괄본부장(HQ_HEAD), 운영팀장(MANAGER)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주요 승인 권한: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프로그램 예산 변경 신청의 최종 결재 및 승인 집행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실무 관리 권한: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교육환경 시설 예약 대여 최종 승인, 프로그램별 연구원 주소록 기반 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07. 일반 연구원 및 센터장 권한 그룹 실무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대상 역할군: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5대 센터장(CENTER_OOO), 팀장교수(TEAM_LEADER), 실무진(RESEARCHER)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실무 권한의 동등성: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그룹 내 모든 직책은 기본적으로 동일한 실무 입력 및 자료 조회 권한을 공유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예외 권한 설정: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교육환경 시설사용 승인의 경우 책임/선임연구원 등 특정인에게만 예외적 부여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08. 통합 IR 대시보드: 다년도 연차 및 동기화 제어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다년도 연차 탭: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상단의 '1차년도' ~ '5차년도' 탭 클릭 시 각 연도별 재원 데이터와 집행 통계 실시간 전환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동기화 상태 배지: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클라이언트와 백엔드 DB 간 정상 동기화 상태를 알리는 초록색 'DB 동기화 완료' 배지 표출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세션 상태 가시화: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로그인 정보 표시 및 안전한 로그아웃 버튼 배치로 세션 신뢰성 확보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i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09. 통합 IR 대시보드: 핵심 요약 지표 카드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총 예산 요약: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2차년도 총 예산 12,278.5백만원(본사업비 및 이월비 통합) 요약 가시화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본예산/이월비 집행분할: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당해 연도 예산과 전년도 이월 예산의 누적 집행 현황을 분리 관제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실시간 달성율 표시: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(지자체)자율성과지표 80.5%, (대학)중점관리지표 82.0%의 실시간 진행률 표기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i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10. 통합 IR 대시보드: 프로젝트별 재원 배분 차트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4대 프로젝트 분류: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프로젝트 A, B, C, D와 공통운영경비 항목으로 재원 분류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누적 막대 차트: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각 프로젝트별로 배정 예산 대비 실제 누적 집행 현황을 한눈에 식별하도록 병렬 배치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집행 균형도 확인: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편중되거나 지연된 집행 경로를 직관적으로 탐색하여 환류를 유도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i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11. 통합 IR 대시보드: 전체 재원 분배 비율 도넛차트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재원 분배 비중: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전체 예산 대비 각 부문별 배분 비율을 도넛 차트 형태로 가시화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부문별 비중 통계: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프로젝트 A(34.0%), 프로젝트 B(24.6%), 프로젝트 C(12.8%), 프로젝트 D(8.7%), 공통운영경비(19.8%)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거시적 재원 통제: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특정 사업군으로 예산 편성이 편중되는 것을 예방하고 행정 균형 수립에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i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12. 단위과제 관리: 단위과제 집행현황 종합 통계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단위과제 종합 그리드: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개설된 모든 단위과제(A1~D3)의 재원 상태와 실적 진척도를 일괄 롤업 집계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재원 통계 분석: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과제별 본예산, 이월예산, 총 배정액 대비 누적 집행액과 실시간 집행률(%) 표기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프로그램 진행률 시각화: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단위과제별 프로그램 개수와 진행상태(준비, 진행, 완료)를 상태 바 형태로 도식화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i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13. 단위과제 관리: 5단계 연계 체계 및 ID 규칙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5단계 연계 계통: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PJ(프로젝트) ➡️ UP(단위과제) ➡️ S(추진전략) ➡️ T(전략과제) ➡️ PG(프로그램)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프로그램 ID 정의: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'단위과제번호-전략·과제번호-프로그램번호' 규칙을 적용해 고유 키 구성 (예 A1가-S1T1-1)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최하위 액션플랜(AP):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각 프로그램 세부 수행을 위해 예산(본/이월), 담당 연구원, 기한을 명시한 실천 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14. 단위과제 관리: 프로그램 관리 및 PDCA 워크플로우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빈틈없는 운영 지원: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실무 연구원이 프로그램 단위의 상세 계획 수립 및 PDCA 절차에 따른 상시 결재 진행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예산 통제 연동: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기획 단계에서 상급자의 비동기 승인을 득하면 즉각 예산 실적 수치에 연동 반영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환류 및 감사 추적: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프로그램 실적 변경에 대한 이력 로그를 체계적으로 보존하여 행정 정합성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15. 프로그램 진행: 프로그램 진행상황 모니터링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PDCA 단계 관제: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각 세부 프로그램의 진행 상태(기획-실행-체크-조정) 단계를 일람표로 집중 추적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진행단계 필터링: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'전체 단위과제 필터'와 연동하여 원하는 과제에 속한 세부 프로그램의 진척도 선별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담당자 정보 동기화: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배정된 담당 연구원의 주소록과 이메일을 노출하여 실무 책임성 강화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chedu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16. 프로그램 진행: 주요 프로그램 집중 모니터링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핵심 전략 과제 매핑: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앵커사업단이 연차별로 지정한 핵심 집중 관리 프로그램을 마일스톤 기한과 함께 분류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일정 지연 경보: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각 단계별 마감 기한을 넘긴 프로그램이나 미등록 실적에 대해 관리자 화면에 경고 알림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성과 정렬 검색: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정렬 및 키워드 조회를 제공하여 실적 취합 시 병목 구간을 신속하게 파악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chedu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17. 프로그램 진행: 프로그램 만족도 조사 및 환류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만족도 통계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수혜 대상자들을 대상으로 진행된 만족도 평점(5점 만점 기준)과 참여자 수 종합 아카이브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품질 관리 지표: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만족도 평가 데이터와 프로그램 PDCA 결과를 비교 분석하여 차기 연도 개선 환류에 동원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평가 증빙 매핑: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만족도 조사 설문 서류 및 통계 결과를 첨부파일로 보존하여 대외 보고 자료 준비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chedu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18. 예산 관리: 비목별 예산 관리 및 집행률 통제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비목별 한도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인건비, 직접사업비, 간접비 등 주요 세부 비목별 배정액 대비 사용 잔액 실시간 통제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초과 집행 방어: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잔액 한도를 초과하는 프로그램 기획 변경이나 구매신청 등록 시 사전 경고 가드 발동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이월비 분리 추적: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본사업비 외에 이월사업비의 잔여 수치와 마감 시점을 분리하여 예산 불용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19. 예산 관리: 집행률 관리 및 통계 시각화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집행 추이 모니터링: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월별 예산 집행 흐름을 꺾은선 및 누적 차트로 시각화하여 사업단 전체 집행 속도 관제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지연 집행 탐색: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전체 연도 마감 전 집행률이 저조한 센터 및 단위과제를 빠르게 필터링하여 경고 처리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일괄 데이터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대외 감사 및 교육부 보고용 예산 집행 실적 대장의 엑셀 일괄 다운로드 기능 제공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20. 예산 관리: 예산 전용 결재 및 기획 변경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비동기 결재 라인: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예산 이·전용이 필요한 프로그램에 대해 실무진이 대시보드 상에서 기획 변경 신청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권한 기반 자동 결재: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단장, 본부장, 운영팀장 화면에 '예산 및 기획변경 승인' 결재함 알림이 생성되어 1클릭 처리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실시간 DB 업데이트: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승인 완료 즉시 예산 잔액 대장과 통합 IR 대시보드 수치에 자동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21. 성과지표 관리: (지자체) 자율성과지표 달성율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자율 지표 추적: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울산광역시 라이즈 계획에 맞춤 설정된 앵커사업단 고유의 자율 성과지표(L-1, L-2 등) 통제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목표 대비 집계: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연차별 목표 달성률 수식에 따라 등록된 실물 실적을 자동 나눗셈 집계하여 달성율(%) 산출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감사 증빙 파일링: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성과지표별 실적 증빙 문서(성과보고서 등)를 Supabase DB 스토리지와 직접 매핑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22. 성과지표 관리: (대학) 중점관리지표 달성율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중점 지표 추적: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울산과학대학교가 직접 발굴 및 관리하는 정량적/정성적 중점 평가지표 실시간 관제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분기별 진척 체크: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분기마다 등록된 지표 결과를 대조하여 연말 지표 폭락 및 미달 현상 사전 예방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성과 달성 가시화: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통합 IR 메인 화면의 중점관리지표 달성율 카드와 실시간 동기화하여 전체 성과 독려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23. 협약·발급 관리: 지산학 협약 대장 및 기관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협약서(MOU) 아카이빙: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대외 협력 기관과의 협약서 원본 파일(PDF)과 협약 명세를 시스템에 영구 보존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협력 기관 매핑: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개설된 프로그램에 참여한 기업/기관 데이터를 조직화하여 지산학 매트릭스 도식화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엑셀 일괄 등록: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신규 유입되는 다량의 지산학 파트너십 기관 정보를 엑셀 템플릿을 통해 1초 만에 임포트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24. 협약·발급 관리: 상장 및 교육이수증 발급 대장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이수증 발급 제어: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사업단 주관 비정규 교육과정을 수료한 학생들의 명단을 아카이빙하여 이수증 출력 관리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우수 수혜자 상장 대장: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각종 공모전 및 앵커 프로그램 수상자 상장 일련번호 및 훈격 정보를 기록 보존</a:t>
            </a:r>
          </a:p>
          <a:p>
            <a:pPr>
              <a:spcAft>
                <a:spcPts val="2000"/>
              </a:spcAft>
            </a:pPr>
            <a:r>
              <a:rPr sz="1600" b="1">
                <a:solidFill>
                  <a:srgbClr val="0B2545"/>
                </a:solidFill>
                <a:latin typeface="KoPubDotum_Pro"/>
              </a:rPr>
              <a:t>• 이력 추적 무결성:</a:t>
            </a:r>
            <a:r>
              <a:rPr sz="1500" b="0">
                <a:solidFill>
                  <a:srgbClr val="333333"/>
                </a:solidFill>
                <a:latin typeface="KoPubDotum_Pro"/>
              </a:rPr>
              <a:t> 상장 및 이수증 일련번호 자동 넘버링으로 문서 불법 위조 및 중복 발행을 완벽 차단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25. 구매·용역 관리: 환경개선 리모델링 프로세스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스마트 공간 리모델링: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강의실 스마트화, 메이커스페이스실 구축 등 리모델링 공사 추진 내역 보존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9단계 행정 프로세스: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[기획] ➡️ [구매신청] ➡️ [입찰] ➡️ [계약] ➡️ [시공] ➡️ [검수] ➡️ [재무 집행완료] 일정 시각화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공기 지연 차단: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회계연도 마감 전 스마트 공간 공사가 일정 내 마무리되도록 단계별 진행일 추적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26. 구매·용역 관리: AI DX 고가 기자재 구매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고가 자산 집중 보존: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AIDX 특화 목록 관리를 위해 단가 기준 고가의 교육용 실험실습 기자재 중심 대장 관리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AI 기반 사양 프리필: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규격서, 견적서 등 기획 PDF 파일을 업로드하면 AI가 제조사, 규격 등을 파싱하여 입력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인간 개입 최소화: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기획/구매 서류 스캔을 통한 수작업 입력 오류 및 행정 소요 시간의 획기적 단축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27. 구매·용역 관리: 주요 외주 용역의 기획 및 검수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외주 용역 추적: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과업지시서 기반으로 500만원 이상의 대형 외주 용역 계약의 기획부터 최종 검수까지 추적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수의계약 적법성 검토: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국가/지자체 감사 핵심 대상인 수의계약 한도액 준수 여부 및 쪼개기 계약 정합성 분석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보고서 AI 요약: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용역 수행 결과보고서 PDF를 자동 요약해 주는 AI Summary 보고서 추출 기술 내장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procurement_mg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28. 자산 관리: 교육환경 사용예약 및 제어 현황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5대 핵심 공간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AI∙DX다목적강의실, M-402, M-405, 늘봄누리센터(1-108), 사업단회의실의 통합 예약 캘린더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예약 신청-승인 워크플로우: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신청 발생 시 소속 실별 담당자의 1차 검토 및 관리자 최종 승인 권한 분기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중복 방지 캘린더: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타임라인 뷰를 제공하여 동일 실에 대한 날짜 및 교시별 중복 신청 예약 신청을 원천 방지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chedu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29. 자산 관리: 기자재 대장 및 AIDX 특화 목록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전체 자산 보존 대장: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앵커사업 재원으로 도입된 모든 고정자산의 관리번호, 상세규격, 보관위치 아카이빙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AIDX 특화 분류: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성과지표와 직접 연관된 AI 및 DX 교육용 기자재 목록만 실시간으로 선별 추적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자산 점검 모바일 확장: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향후 QR코드/NFC 태그 등 실시간 모바일 스캔 점검 기능을 연동할 수 있도록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schedule_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30. 앵커Wiki: RAG 기반 AI 지식 챗봇 활용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자연어 행정 질의: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'회의비 식비 규정이 어떻게 개정되었어?', '자율성과지표 L-1 공식은?' 등의 질문 처리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ChromaDB 기반 RAG 검색: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12개 단위과제 계획서, 1차년도 성과보고서, 사업비 규정 PDF를 분석하여 정확한 답변 생성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신뢰성 확보 메커니즘: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질문 의도와 가장 밀접한 지침 문서의 실제 단락을 실시간 검색 후 결합하여 신뢰성 보장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anchor_w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31. 앵커Wiki: 사업 백과 단락 색인 브라우저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카테고리 칩 필터: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전체, 개요, 사업비 현황, 사업비지침, 성과지표, 5극3특 탭별 단락 브라우징 지원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계획서 일괄 스캔: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각 단위과제(A1가, A2, B1 등) 세부 기획서 본문 내용을 펼쳐보고 더블클릭 없이 즉각 확인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지식 축적 저장소: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신규 지침 개정 시 백엔드 DB와 연동되어 백과사전 카드 목록에 즉각 동적 갱신 반영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anchor_wik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32. 사업단 관리: 승인처리 결재함 및 권한 분기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통합 승인함 운영: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프로그램 계획 변경 신청 및 교육환경 공간 사용 예약 승인을 관리하는 결재창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프로그램 변경 승인 권한: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최고 의결 권한자(사업단장, 총괄본부장, 운영팀장) 3인에게만 독점 결재 권한 세팅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교육환경 시설 승인 권한: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위 3인을 포함하여 임은애 선임연구원, 이규상, 황수진, 최주명 연구원에게 분기 부여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portal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33. 사업단 관리: 구성원 관리 및 프로그램 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이메일 회원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입사자, 퇴사자, 부서 변경자에 대한 이메일 기반 가입 관리 (단장/본부장/운영팀장만 접근 가능)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프로그램 담당 배정: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각 프로그램에 담당 실무 연구원을 일대일 또는 다대일 매핑 (일반 사용자 화면 노출 차단)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접근 제한 가드: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일반 사용자의 경우 메뉴 자체를 렌더링하지 않아 행정 정보 오용 및 정보 유출 예방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portal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34. 사업단 관리: 대학 조직도 및 사업단 조직도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대학 본부 조직도: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대학본부 처/국, 산단, 학부(과) 정보를 수록하여 주소록 및 예약 입력 폼 드롭다운 소스 연동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사업단 구성도: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사업단장, 총괄본부장 이하 5대 전담 센터(ECC, ICC, RCC 등)의 지휘 계통 및 멤버 구조 시각화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인적 정보 탐색: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참여 연구원들의 교내번호, 휴대전화, 이메일, 담당 프로그램 상세 정보를 1클릭 조회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35. 사업단 관리: 위원회 관리 및 협력기관 CRM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위원회 분류 통제: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사업단 주관 핵심 의사결정 위원회와 센터별 실무 위원회를 체계적으로 구분 및 위원 명단 보존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회의결과 자동 연동: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위원회 정보를 기반으로 '회의결과 등록' 메뉴 내 일정 및 결재선 등과 유기적으로 작동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지산학 CRM 통계: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지자체, 공기업, 협력 산업체 인프라를 분석하고 각 기관 담당자 연락처와 성과 메모 보존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0B2545"/>
                </a:solidFill>
                <a:latin typeface="KoPubDotum_Pro"/>
              </a:defRPr>
            </a:pPr>
            <a:r>
              <a:t>36. 사업단 관리: 교·강사 Pool 및 앵커 포털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18288"/>
          </a:xfrm>
          <a:prstGeom prst="rect">
            <a:avLst/>
          </a:prstGeom>
          <a:solidFill>
            <a:srgbClr val="4E6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교·강사 성과 관리: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주문식/평생직업교육에 초빙된 교·강사들의 강사료(지급액) 및 학생 강의 만족도 사후 추적 관리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앵커 포털 토글 스위치: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전체 성과관리 시스템 내의 메뉴 탭을 사용자에게 보일지 토글 체크로 실시간 조율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0B2545"/>
                </a:solidFill>
                <a:latin typeface="KoPubDotum_Pro"/>
              </a:rPr>
              <a:t>• 단장 전용 특수 권한:</a:t>
            </a:r>
            <a:r>
              <a:rPr sz="1300" b="0">
                <a:solidFill>
                  <a:srgbClr val="333333"/>
                </a:solidFill>
                <a:latin typeface="KoPubDotum_Pro"/>
              </a:rPr>
              <a:t> 본 포털 토글 제어 탭은 철저하게 사업단장(g_director) 계정에게만 표시 및 접근 허용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4E6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portal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389888"/>
            <a:ext cx="5449824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77777"/>
                </a:solidFill>
                <a:latin typeface="KoPubDotum_Pro"/>
              </a:defRPr>
            </a:pPr>
            <a:r>
              <a:t>UC ANCHOR 통합 대시보드 시스템 설명서  |  Slide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